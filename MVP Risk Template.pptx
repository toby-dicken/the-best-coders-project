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7DAB66-CFA2-93DA-6AE9-A511C59964CB}" v="633" dt="2025-12-22T22:03:22.214"/>
    <p1510:client id="{FFF47B4D-9F1E-944E-AB02-6FD6BABC2D8A}" v="38" dt="2025-12-22T21:20:32.4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E8B1D5D-793D-9782-177F-00CAF2311F65}"/>
              </a:ext>
            </a:extLst>
          </p:cNvPr>
          <p:cNvSpPr txBox="1"/>
          <p:nvPr/>
        </p:nvSpPr>
        <p:spPr>
          <a:xfrm>
            <a:off x="2577063" y="80934"/>
            <a:ext cx="71467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>
                <a:latin typeface="Aharoni" panose="02010803020104030203" pitchFamily="2" charset="-79"/>
                <a:cs typeface="Aharoni" panose="02010803020104030203" pitchFamily="2" charset="-79"/>
              </a:rPr>
              <a:t>PRELIMINARY RISK &amp; SECURITY LOG</a:t>
            </a:r>
            <a:endParaRPr lang="en-US" sz="3200" b="1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0DCDC08-B795-91DB-B986-31643B05B5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880405"/>
              </p:ext>
            </p:extLst>
          </p:nvPr>
        </p:nvGraphicFramePr>
        <p:xfrm>
          <a:off x="1349828" y="2985738"/>
          <a:ext cx="9601200" cy="22860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401160253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38677935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8932894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>
                          <a:effectLst/>
                          <a:latin typeface="Google Sans Text"/>
                        </a:rPr>
                        <a:t>Score</a:t>
                      </a:r>
                      <a:endParaRPr lang="en-GB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>
                          <a:effectLst/>
                          <a:latin typeface="Google Sans Text"/>
                        </a:rPr>
                        <a:t>Likelihood (1-5)</a:t>
                      </a:r>
                      <a:endParaRPr lang="en-GB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>
                          <a:effectLst/>
                          <a:latin typeface="Google Sans Text"/>
                        </a:rPr>
                        <a:t>Impact (1-5)</a:t>
                      </a:r>
                      <a:endParaRPr lang="en-GB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5918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>
                          <a:effectLst/>
                          <a:latin typeface="Google Sans Text"/>
                        </a:rPr>
                        <a:t>1-4</a:t>
                      </a:r>
                      <a:endParaRPr lang="en-GB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>
                          <a:effectLst/>
                          <a:latin typeface="Google Sans Text"/>
                        </a:rPr>
                        <a:t>Low:</a:t>
                      </a:r>
                      <a:r>
                        <a:rPr lang="en-GB">
                          <a:effectLst/>
                          <a:latin typeface="Google Sans Text"/>
                        </a:rPr>
                        <a:t> Keep under review.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>
                          <a:effectLst/>
                          <a:latin typeface="Google Sans Text"/>
                        </a:rPr>
                        <a:t>Minor:</a:t>
                      </a:r>
                      <a:r>
                        <a:rPr lang="en-GB">
                          <a:effectLst/>
                          <a:latin typeface="Google Sans Text"/>
                        </a:rPr>
                        <a:t> Inconvenient but not critical.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2074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>
                          <a:effectLst/>
                          <a:latin typeface="Google Sans Text"/>
                        </a:rPr>
                        <a:t>5-12</a:t>
                      </a:r>
                      <a:endParaRPr lang="en-GB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>
                          <a:effectLst/>
                          <a:latin typeface="Google Sans Text"/>
                        </a:rPr>
                        <a:t>Medium:</a:t>
                      </a:r>
                      <a:r>
                        <a:rPr lang="en-GB">
                          <a:effectLst/>
                          <a:latin typeface="Google Sans Text"/>
                        </a:rPr>
                        <a:t> Needs a plan.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>
                          <a:effectLst/>
                          <a:latin typeface="Google Sans Text"/>
                        </a:rPr>
                        <a:t>Moderate:</a:t>
                      </a:r>
                      <a:r>
                        <a:rPr lang="en-GB">
                          <a:effectLst/>
                          <a:latin typeface="Google Sans Text"/>
                        </a:rPr>
                        <a:t> Requires changes to design/code.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0285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>
                          <a:effectLst/>
                          <a:latin typeface="Google Sans Text"/>
                        </a:rPr>
                        <a:t>15-25</a:t>
                      </a:r>
                      <a:endParaRPr lang="en-GB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>
                          <a:effectLst/>
                          <a:latin typeface="Google Sans Text"/>
                        </a:rPr>
                        <a:t>High/Extreme:</a:t>
                      </a:r>
                      <a:r>
                        <a:rPr lang="en-GB">
                          <a:effectLst/>
                          <a:latin typeface="Google Sans Text"/>
                        </a:rPr>
                        <a:t> Urgent action required.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>
                          <a:effectLst/>
                          <a:latin typeface="Google Sans Text"/>
                        </a:rPr>
                        <a:t>Catastrophic:</a:t>
                      </a:r>
                      <a:r>
                        <a:rPr lang="en-GB">
                          <a:effectLst/>
                          <a:latin typeface="Google Sans Text"/>
                        </a:rPr>
                        <a:t> Project failure / Data Breach.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803054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029CFE50-2DE0-5BAA-CE28-9F575A010E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31771" y="1706008"/>
            <a:ext cx="4528458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/>
                <a:cs typeface="Arial"/>
              </a:rPr>
              <a:t>PART 1: RISK ASSESSMENT KEY</a:t>
            </a:r>
            <a:endParaRPr lang="en-US" altLang="en-US" sz="2000" b="1" i="0" u="none" strike="noStrike" cap="none" normalizeH="0" baseline="0">
              <a:ln>
                <a:noFill/>
              </a:ln>
              <a:effectLst/>
              <a:latin typeface="Arial"/>
              <a:cs typeface="Arial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Use this standard key to score your risks.</a:t>
            </a:r>
            <a:endParaRPr kumimoji="0" lang="en-US" alt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77AAE8-44D0-1DFD-AEE4-7E34F525B456}"/>
              </a:ext>
            </a:extLst>
          </p:cNvPr>
          <p:cNvSpPr txBox="1"/>
          <p:nvPr/>
        </p:nvSpPr>
        <p:spPr>
          <a:xfrm>
            <a:off x="707571" y="5453627"/>
            <a:ext cx="6248400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rial"/>
                <a:cs typeface="Arial"/>
              </a:rPr>
              <a:t>Student Name: Muhammad Aarim Rana</a:t>
            </a:r>
          </a:p>
          <a:p>
            <a:r>
              <a:rPr lang="en-US" sz="2000" b="1" dirty="0">
                <a:latin typeface="Arial"/>
                <a:cs typeface="Arial"/>
              </a:rPr>
              <a:t>Role: Software Developer</a:t>
            </a:r>
          </a:p>
          <a:p>
            <a:r>
              <a:rPr lang="en-US" sz="2000" b="1" dirty="0">
                <a:latin typeface="Arial"/>
                <a:cs typeface="Arial"/>
              </a:rPr>
              <a:t>Group Name: The Best Coders</a:t>
            </a:r>
          </a:p>
        </p:txBody>
      </p:sp>
    </p:spTree>
    <p:extLst>
      <p:ext uri="{BB962C8B-B14F-4D97-AF65-F5344CB8AC3E}">
        <p14:creationId xmlns:p14="http://schemas.microsoft.com/office/powerpoint/2010/main" val="4500168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1549E7E-C0E7-BA24-37B6-117584C53232}"/>
              </a:ext>
            </a:extLst>
          </p:cNvPr>
          <p:cNvSpPr txBox="1"/>
          <p:nvPr/>
        </p:nvSpPr>
        <p:spPr>
          <a:xfrm>
            <a:off x="832994" y="4980191"/>
            <a:ext cx="5701748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2000" b="1" dirty="0">
                <a:solidFill>
                  <a:srgbClr val="FF0000"/>
                </a:solidFill>
                <a:latin typeface="Arial"/>
                <a:cs typeface="Arial"/>
              </a:rPr>
              <a:t>Risk Score = Likelihood x Impact </a:t>
            </a:r>
            <a:r>
              <a:rPr lang="en-GB" sz="2000" b="1">
                <a:solidFill>
                  <a:srgbClr val="FF0000"/>
                </a:solidFill>
                <a:latin typeface="Arial"/>
                <a:cs typeface="Arial"/>
              </a:rPr>
              <a:t>= 75</a:t>
            </a:r>
            <a:endParaRPr lang="en-GB" sz="2000" b="1" dirty="0">
              <a:solidFill>
                <a:srgbClr val="FF0000"/>
              </a:solidFill>
              <a:latin typeface="Arial"/>
              <a:cs typeface="Arial"/>
            </a:endParaRPr>
          </a:p>
          <a:p>
            <a:endParaRPr lang="en-GB" sz="2000" b="1" dirty="0">
              <a:solidFill>
                <a:srgbClr val="FF0000"/>
              </a:solidFill>
            </a:endParaRPr>
          </a:p>
          <a:p>
            <a:r>
              <a:rPr lang="en-GB" b="1" dirty="0"/>
              <a:t>1 - 4 (Low):</a:t>
            </a:r>
            <a:r>
              <a:rPr lang="en-GB" dirty="0"/>
              <a:t> Monitor.</a:t>
            </a:r>
          </a:p>
          <a:p>
            <a:r>
              <a:rPr lang="en-GB" b="1" dirty="0"/>
              <a:t>5 - 12 (Medium): </a:t>
            </a:r>
            <a:r>
              <a:rPr lang="en-GB" dirty="0"/>
              <a:t>Needs a Plan.</a:t>
            </a:r>
          </a:p>
          <a:p>
            <a:r>
              <a:rPr lang="en-GB" b="1" dirty="0"/>
              <a:t>15-25 (High):</a:t>
            </a:r>
            <a:r>
              <a:rPr lang="en-GB" dirty="0"/>
              <a:t> Requires immediate mitigation or test plan.</a:t>
            </a:r>
          </a:p>
          <a:p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34D38A-4F61-1811-D65E-58CA519293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8676447"/>
              </p:ext>
            </p:extLst>
          </p:nvPr>
        </p:nvGraphicFramePr>
        <p:xfrm>
          <a:off x="832994" y="0"/>
          <a:ext cx="11216731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721">
                  <a:extLst>
                    <a:ext uri="{9D8B030D-6E8A-4147-A177-3AD203B41FA5}">
                      <a16:colId xmlns:a16="http://schemas.microsoft.com/office/drawing/2014/main" val="3743172580"/>
                    </a:ext>
                  </a:extLst>
                </a:gridCol>
                <a:gridCol w="1343887">
                  <a:extLst>
                    <a:ext uri="{9D8B030D-6E8A-4147-A177-3AD203B41FA5}">
                      <a16:colId xmlns:a16="http://schemas.microsoft.com/office/drawing/2014/main" val="2787253486"/>
                    </a:ext>
                  </a:extLst>
                </a:gridCol>
                <a:gridCol w="2791405">
                  <a:extLst>
                    <a:ext uri="{9D8B030D-6E8A-4147-A177-3AD203B41FA5}">
                      <a16:colId xmlns:a16="http://schemas.microsoft.com/office/drawing/2014/main" val="1248510872"/>
                    </a:ext>
                  </a:extLst>
                </a:gridCol>
                <a:gridCol w="1357745">
                  <a:extLst>
                    <a:ext uri="{9D8B030D-6E8A-4147-A177-3AD203B41FA5}">
                      <a16:colId xmlns:a16="http://schemas.microsoft.com/office/drawing/2014/main" val="1636724309"/>
                    </a:ext>
                  </a:extLst>
                </a:gridCol>
                <a:gridCol w="1039090">
                  <a:extLst>
                    <a:ext uri="{9D8B030D-6E8A-4147-A177-3AD203B41FA5}">
                      <a16:colId xmlns:a16="http://schemas.microsoft.com/office/drawing/2014/main" val="2069697128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640157157"/>
                    </a:ext>
                  </a:extLst>
                </a:gridCol>
                <a:gridCol w="3016065">
                  <a:extLst>
                    <a:ext uri="{9D8B030D-6E8A-4147-A177-3AD203B41FA5}">
                      <a16:colId xmlns:a16="http://schemas.microsoft.com/office/drawing/2014/main" val="2273363994"/>
                    </a:ext>
                  </a:extLst>
                </a:gridCol>
              </a:tblGrid>
              <a:tr h="491303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 dirty="0">
                          <a:latin typeface="Arial"/>
                        </a:rPr>
                        <a:t>Ref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FFFFFF"/>
                          </a:solidFill>
                          <a:latin typeface="Arial"/>
                        </a:rPr>
                        <a:t>Risk Category</a:t>
                      </a:r>
                      <a:endParaRPr lang="en-US" b="1" i="0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FFFFFF"/>
                          </a:solidFill>
                          <a:latin typeface="Arial"/>
                        </a:rPr>
                        <a:t>Risk Description / Threat</a:t>
                      </a:r>
                    </a:p>
                    <a:p>
                      <a:pPr lvl="0">
                        <a:buNone/>
                      </a:pPr>
                      <a:endParaRPr lang="en-US" b="1" i="0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Arial"/>
                        </a:rPr>
                        <a:t>Likelihood (1 – 5)</a:t>
                      </a:r>
                      <a:endParaRPr lang="en-US" b="1" i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 dirty="0">
                          <a:latin typeface="Arial"/>
                        </a:rPr>
                        <a:t>Impact (1 –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>
                          <a:latin typeface="Arial"/>
                        </a:rPr>
                        <a:t>Total Score </a:t>
                      </a:r>
                    </a:p>
                    <a:p>
                      <a:pPr lvl="0">
                        <a:buNone/>
                      </a:pPr>
                      <a:r>
                        <a:rPr lang="en-US" b="1" i="0">
                          <a:latin typeface="Arial"/>
                        </a:rPr>
                        <a:t>(L * 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>
                          <a:latin typeface="Arial"/>
                        </a:rPr>
                        <a:t>Proposed Mitigation for Sprint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77276"/>
                  </a:ext>
                </a:extLst>
              </a:tr>
              <a:tr h="543506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1" i="0" u="none" strike="noStrike" noProof="0">
                          <a:latin typeface="Franklin Gothic Book"/>
                        </a:rPr>
                        <a:t>R01</a:t>
                      </a:r>
                      <a:endParaRPr lang="en-US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IT risks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Minor changes in the code will affect the work.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Prepare beforehand to avoid future issues.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149408"/>
                  </a:ext>
                </a:extLst>
              </a:tr>
              <a:tr h="7764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1" i="0" u="none" strike="noStrike" noProof="0">
                          <a:latin typeface="Franklin Gothic Book"/>
                        </a:rPr>
                        <a:t>R02</a:t>
                      </a:r>
                      <a:endParaRPr lang="en-US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Project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Sometimes no clear communication from team.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Make sure everyone knows what they need to do before we leave meeting.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1609696"/>
                  </a:ext>
                </a:extLst>
              </a:tr>
              <a:tr h="543506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1" i="0" u="none" strike="noStrike" noProof="0">
                          <a:latin typeface="Franklin Gothic Book"/>
                        </a:rPr>
                        <a:t>R03</a:t>
                      </a:r>
                      <a:endParaRPr lang="en-US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Technical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Using too complex code.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Organise</a:t>
                      </a:r>
                      <a:r>
                        <a:rPr lang="en-US" dirty="0"/>
                        <a:t> the code that I will use.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6747703"/>
                  </a:ext>
                </a:extLst>
              </a:tr>
              <a:tr h="543506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1" i="0" u="none" strike="noStrike" noProof="0">
                          <a:latin typeface="Franklin Gothic Book"/>
                        </a:rPr>
                        <a:t>R04</a:t>
                      </a:r>
                      <a:endParaRPr lang="en-US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Illness/Burnout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Share work among each other to help out.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7120160"/>
                  </a:ext>
                </a:extLst>
              </a:tr>
              <a:tr h="7764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1" i="0" u="none" strike="noStrike" noProof="0">
                          <a:latin typeface="Franklin Gothic Book"/>
                        </a:rPr>
                        <a:t>R05</a:t>
                      </a:r>
                      <a:endParaRPr lang="en-US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UX/Design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Based on personal taste, might not be user friendly.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Make sure the app is friendly to users before starting to work on it.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3683364"/>
                  </a:ext>
                </a:extLst>
              </a:tr>
              <a:tr h="31057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6756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7148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C3083-D1A8-2D54-102A-B453CC17C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u="sng" dirty="0"/>
              <a:t>Added Risks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7C50CD8-BCC6-48F9-4740-2C1B4DAA7E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8243060"/>
              </p:ext>
            </p:extLst>
          </p:nvPr>
        </p:nvGraphicFramePr>
        <p:xfrm>
          <a:off x="1295400" y="1691640"/>
          <a:ext cx="96012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180080404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42713048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955590628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7435721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56058692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41997642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9721350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Ref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Risk</a:t>
                      </a:r>
                    </a:p>
                    <a:p>
                      <a:r>
                        <a:rPr lang="en-GB" dirty="0"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Risk Description/Threat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Likelihood</a:t>
                      </a:r>
                    </a:p>
                    <a:p>
                      <a:r>
                        <a:rPr lang="en-GB" dirty="0"/>
                        <a:t>(1-5)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Impact </a:t>
                      </a:r>
                    </a:p>
                    <a:p>
                      <a:r>
                        <a:rPr lang="en-GB" dirty="0"/>
                        <a:t>(1-5)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Total</a:t>
                      </a:r>
                    </a:p>
                    <a:p>
                      <a:r>
                        <a:rPr lang="en-GB" dirty="0"/>
                        <a:t>Score</a:t>
                      </a:r>
                    </a:p>
                    <a:p>
                      <a:r>
                        <a:rPr lang="en-GB" dirty="0"/>
                        <a:t>(L*1)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Proposed Mitigation for Sprint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6158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R06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Software Application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Anyone can use anyone’s email to open a support ticket. So no verification.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Work will be done on this and review any more errors like this to avoid in future.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564111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A6A4598-A0C7-A80D-FC33-5E9D14780B3A}"/>
              </a:ext>
            </a:extLst>
          </p:cNvPr>
          <p:cNvSpPr txBox="1"/>
          <p:nvPr/>
        </p:nvSpPr>
        <p:spPr>
          <a:xfrm>
            <a:off x="953729" y="543938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FF0000"/>
                </a:solidFill>
                <a:latin typeface="Arial"/>
                <a:cs typeface="Arial"/>
              </a:rPr>
              <a:t>Risk Score = Likelihood x Impact = 75</a:t>
            </a:r>
          </a:p>
        </p:txBody>
      </p:sp>
    </p:spTree>
    <p:extLst>
      <p:ext uri="{BB962C8B-B14F-4D97-AF65-F5344CB8AC3E}">
        <p14:creationId xmlns:p14="http://schemas.microsoft.com/office/powerpoint/2010/main" val="1948989427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20</TotalTime>
  <Words>357</Words>
  <Application>Microsoft Office PowerPoint</Application>
  <PresentationFormat>Widescreen</PresentationFormat>
  <Paragraphs>87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Aharoni</vt:lpstr>
      <vt:lpstr>Arial</vt:lpstr>
      <vt:lpstr>Franklin Gothic Book</vt:lpstr>
      <vt:lpstr>Google Sans Text</vt:lpstr>
      <vt:lpstr>Crop</vt:lpstr>
      <vt:lpstr>PowerPoint Presentation</vt:lpstr>
      <vt:lpstr>PowerPoint Presentation</vt:lpstr>
      <vt:lpstr>Added Risks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Krukrubo, Lawrence</dc:creator>
  <cp:lastModifiedBy>Muhammad Rana (Student)</cp:lastModifiedBy>
  <cp:revision>11</cp:revision>
  <dcterms:created xsi:type="dcterms:W3CDTF">2025-12-22T20:48:00Z</dcterms:created>
  <dcterms:modified xsi:type="dcterms:W3CDTF">2026-03-20T16:56:56Z</dcterms:modified>
</cp:coreProperties>
</file>