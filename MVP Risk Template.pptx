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DAB66-CFA2-93DA-6AE9-A511C59964CB}" v="633" dt="2025-12-22T22:03:22.214"/>
    <p1510:client id="{FFF47B4D-9F1E-944E-AB02-6FD6BABC2D8A}" v="38" dt="2025-12-22T21:20:3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B1D5D-793D-9782-177F-00CAF2311F65}"/>
              </a:ext>
            </a:extLst>
          </p:cNvPr>
          <p:cNvSpPr txBox="1"/>
          <p:nvPr/>
        </p:nvSpPr>
        <p:spPr>
          <a:xfrm>
            <a:off x="2577063" y="80934"/>
            <a:ext cx="714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latin typeface="Aharoni" panose="02010803020104030203" pitchFamily="2" charset="-79"/>
                <a:cs typeface="Aharoni" panose="02010803020104030203" pitchFamily="2" charset="-79"/>
              </a:rPr>
              <a:t>PRELIMINARY RISK &amp; SECURITY LOG</a:t>
            </a:r>
            <a:endParaRPr lang="en-US" sz="3200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DCDC08-B795-91DB-B986-31643B05B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80405"/>
              </p:ext>
            </p:extLst>
          </p:nvPr>
        </p:nvGraphicFramePr>
        <p:xfrm>
          <a:off x="1349828" y="2985738"/>
          <a:ext cx="960120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01160253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677935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93289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Score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Likelihood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Impact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59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1-4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Low:</a:t>
                      </a:r>
                      <a:r>
                        <a:rPr lang="en-GB">
                          <a:effectLst/>
                          <a:latin typeface="Google Sans Text"/>
                        </a:rPr>
                        <a:t> Keep under review.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Minor:</a:t>
                      </a:r>
                      <a:r>
                        <a:rPr lang="en-GB">
                          <a:effectLst/>
                          <a:latin typeface="Google Sans Text"/>
                        </a:rPr>
                        <a:t> Inconvenient but not critical.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07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5-12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Medium:</a:t>
                      </a:r>
                      <a:r>
                        <a:rPr lang="en-GB">
                          <a:effectLst/>
                          <a:latin typeface="Google Sans Text"/>
                        </a:rPr>
                        <a:t> Needs a plan.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Moderate: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Requires changes to design/code.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285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15-25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High/Extreme: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Urgent action required.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Catastrophic:</a:t>
                      </a:r>
                      <a:r>
                        <a:rPr lang="en-GB">
                          <a:effectLst/>
                          <a:latin typeface="Google Sans Text"/>
                        </a:rPr>
                        <a:t> Project failure / Data Breach.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3054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29CFE50-2DE0-5BAA-CE28-9F575A010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771" y="1706008"/>
            <a:ext cx="45284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PART 1: RISK ASSESSMENT KEY</a:t>
            </a:r>
            <a:endParaRPr lang="en-US" altLang="en-US" sz="20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this standard key to score your risks.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AAE8-44D0-1DFD-AEE4-7E34F525B456}"/>
              </a:ext>
            </a:extLst>
          </p:cNvPr>
          <p:cNvSpPr txBox="1"/>
          <p:nvPr/>
        </p:nvSpPr>
        <p:spPr>
          <a:xfrm>
            <a:off x="707571" y="5453627"/>
            <a:ext cx="6248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Student Name: Muhammad Aarim Rana</a:t>
            </a:r>
          </a:p>
          <a:p>
            <a:r>
              <a:rPr lang="en-US" sz="2000" b="1" dirty="0">
                <a:latin typeface="Arial"/>
                <a:cs typeface="Arial"/>
              </a:rPr>
              <a:t>Role: Software Developer</a:t>
            </a:r>
          </a:p>
          <a:p>
            <a:r>
              <a:rPr lang="en-US" sz="2000" b="1" dirty="0">
                <a:latin typeface="Arial"/>
                <a:cs typeface="Arial"/>
              </a:rPr>
              <a:t>Group Name: The Best Coders</a:t>
            </a:r>
          </a:p>
        </p:txBody>
      </p:sp>
    </p:spTree>
    <p:extLst>
      <p:ext uri="{BB962C8B-B14F-4D97-AF65-F5344CB8AC3E}">
        <p14:creationId xmlns:p14="http://schemas.microsoft.com/office/powerpoint/2010/main" val="45001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549E7E-C0E7-BA24-37B6-117584C53232}"/>
              </a:ext>
            </a:extLst>
          </p:cNvPr>
          <p:cNvSpPr txBox="1"/>
          <p:nvPr/>
        </p:nvSpPr>
        <p:spPr>
          <a:xfrm>
            <a:off x="832994" y="4980191"/>
            <a:ext cx="5701748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Arial"/>
                <a:cs typeface="Arial"/>
              </a:rPr>
              <a:t>Risk Score = Likelihood x Impact = 15 x 15 = 225 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b="1" dirty="0"/>
              <a:t>1 - 4 (Low):</a:t>
            </a:r>
            <a:r>
              <a:rPr lang="en-GB" dirty="0"/>
              <a:t> Monitor.</a:t>
            </a:r>
          </a:p>
          <a:p>
            <a:r>
              <a:rPr lang="en-GB" b="1" dirty="0"/>
              <a:t>5 - 12 (Medium): </a:t>
            </a:r>
            <a:r>
              <a:rPr lang="en-GB" dirty="0"/>
              <a:t>Needs a Plan.</a:t>
            </a:r>
          </a:p>
          <a:p>
            <a:r>
              <a:rPr lang="en-GB" b="1" dirty="0"/>
              <a:t>15-25 (High):</a:t>
            </a:r>
            <a:r>
              <a:rPr lang="en-GB" dirty="0"/>
              <a:t> Requires immediate mitigation or test plan.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34D38A-4F61-1811-D65E-58CA51929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264793"/>
              </p:ext>
            </p:extLst>
          </p:nvPr>
        </p:nvGraphicFramePr>
        <p:xfrm>
          <a:off x="832994" y="0"/>
          <a:ext cx="11216731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721">
                  <a:extLst>
                    <a:ext uri="{9D8B030D-6E8A-4147-A177-3AD203B41FA5}">
                      <a16:colId xmlns:a16="http://schemas.microsoft.com/office/drawing/2014/main" val="3743172580"/>
                    </a:ext>
                  </a:extLst>
                </a:gridCol>
                <a:gridCol w="1343887">
                  <a:extLst>
                    <a:ext uri="{9D8B030D-6E8A-4147-A177-3AD203B41FA5}">
                      <a16:colId xmlns:a16="http://schemas.microsoft.com/office/drawing/2014/main" val="2787253486"/>
                    </a:ext>
                  </a:extLst>
                </a:gridCol>
                <a:gridCol w="2791405">
                  <a:extLst>
                    <a:ext uri="{9D8B030D-6E8A-4147-A177-3AD203B41FA5}">
                      <a16:colId xmlns:a16="http://schemas.microsoft.com/office/drawing/2014/main" val="1248510872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1636724309"/>
                    </a:ext>
                  </a:extLst>
                </a:gridCol>
                <a:gridCol w="1039090">
                  <a:extLst>
                    <a:ext uri="{9D8B030D-6E8A-4147-A177-3AD203B41FA5}">
                      <a16:colId xmlns:a16="http://schemas.microsoft.com/office/drawing/2014/main" val="2069697128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640157157"/>
                    </a:ext>
                  </a:extLst>
                </a:gridCol>
                <a:gridCol w="3016065">
                  <a:extLst>
                    <a:ext uri="{9D8B030D-6E8A-4147-A177-3AD203B41FA5}">
                      <a16:colId xmlns:a16="http://schemas.microsoft.com/office/drawing/2014/main" val="2273363994"/>
                    </a:ext>
                  </a:extLst>
                </a:gridCol>
              </a:tblGrid>
              <a:tr h="4913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latin typeface="Arial"/>
                        </a:rPr>
                        <a:t>Ref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rial"/>
                        </a:rPr>
                        <a:t>Risk Category</a:t>
                      </a:r>
                      <a:endParaRPr lang="en-US" b="1" i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rial"/>
                        </a:rPr>
                        <a:t>Risk Description / Threat</a:t>
                      </a:r>
                    </a:p>
                    <a:p>
                      <a:pPr lvl="0">
                        <a:buNone/>
                      </a:pPr>
                      <a:endParaRPr lang="en-US" b="1" i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Likelihood (1 – 5)</a:t>
                      </a: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Arial"/>
                        </a:rPr>
                        <a:t>Impact (1 –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Total Score </a:t>
                      </a:r>
                    </a:p>
                    <a:p>
                      <a:pPr lvl="0">
                        <a:buNone/>
                      </a:pPr>
                      <a:r>
                        <a:rPr lang="en-US" b="1" i="0">
                          <a:latin typeface="Arial"/>
                        </a:rPr>
                        <a:t>(L *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Proposed Mitigation for Sprint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7276"/>
                  </a:ext>
                </a:extLst>
              </a:tr>
              <a:tr h="5435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R01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Minor changes in the code will affect the 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Prepare beforehand to avoid future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49408"/>
                  </a:ext>
                </a:extLst>
              </a:tr>
              <a:tr h="776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R02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Sometimes no clear communication from team.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sure everyone knows what they need to do before we leave meeting.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609696"/>
                  </a:ext>
                </a:extLst>
              </a:tr>
              <a:tr h="5435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R03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too complex 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Organise</a:t>
                      </a:r>
                      <a:r>
                        <a:rPr lang="en-US" dirty="0"/>
                        <a:t> the code that I will 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747703"/>
                  </a:ext>
                </a:extLst>
              </a:tr>
              <a:tr h="5435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R04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Illness/Burnout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 work among each other to help 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120160"/>
                  </a:ext>
                </a:extLst>
              </a:tr>
              <a:tr h="7764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R05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UX/Design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Based on personal taste, might not be user friendly.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sure the app is friendly to users before starting to work on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83364"/>
                  </a:ext>
                </a:extLst>
              </a:tr>
              <a:tr h="31057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56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1486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</TotalTime>
  <Words>283</Words>
  <Application>Microsoft Office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Arial</vt:lpstr>
      <vt:lpstr>Franklin Gothic Book</vt:lpstr>
      <vt:lpstr>Google Sans Text</vt:lpstr>
      <vt:lpstr>Crop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Krukrubo, Lawrence</dc:creator>
  <cp:lastModifiedBy>Muhammad Rana (Student)</cp:lastModifiedBy>
  <cp:revision>3</cp:revision>
  <dcterms:created xsi:type="dcterms:W3CDTF">2025-12-22T20:48:00Z</dcterms:created>
  <dcterms:modified xsi:type="dcterms:W3CDTF">2026-03-10T14:05:47Z</dcterms:modified>
</cp:coreProperties>
</file>